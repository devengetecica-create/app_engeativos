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Cumprimentar. Mencionar que vou apresentar uma proposta de 5 min, com decisão simples no fim (3 OKs). Sem custo escondido.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 em 3 cards: problema, causa, solução. Cada um é uma frase principal. Não entrar em detalhe técnico aqui — só posicionar. Próximos slides aprofundam.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 citação em voz alta com calma. Pausar. Listar as 4 consequências objetivas. O ponto: não é só inconveniente — afeta produção, manutenção e folha de pagamento.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causa é resolvível, e isso me leva às 3 propostas dos próximos slides. Importante: nenhuma das causas é "o operador é descuidado". É design ruim.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Camada 1 é a base — não dá pra fazer nada nas outras sem reforçar a mensagem visual primeiro. Já está pronta para ser implementada. Posso publicar essa semana mesmo se aprovado.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Camada 2 é onde o erro fica IMPOSSÍVEL. Mudança 5 (renomear) sozinha resolve 80% da confusão. 1, 2 e 3 (botões, banner, cores) fecham os outros 20%.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equipe com baixa alfabetização, esse cartão pode ser o mais eficaz dos três. O motorista vê toda vez. Imprimir 50 cartões custa ~R$ 250 — uma ordem só.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Camada 4 é o vetor mais eficaz pra equipe leiga. O canal (WhatsApp) já existe. Roteiro completo + storyboard em arquivos separados. Posso ajudar a editar, mas a gravação é melhor com o encarregado — voz dele tem mais autoridade que voz da 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Cronograma realista. Nenhuma das ações requer parada de produção. Camada 2 entra na próxima janela de release programada — não acelera 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Pedir decisão item-a-item. Camadas 1 e 4 podem começar hoje sem custo monetário. Camadas 2 e 3 podem ser aprovadas em separado se houver dúvida sobre custo/escopo. Reforçar o KPI no final: queremos sair de &lt; 60 % para 90 % em 4 semanas. Se aprovar só A (tutorial) e D (vídeo), já temos avanço imediato sem custo.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743200"/>
            <a:ext cx="6858000" cy="6858000"/>
          </a:xfrm>
          <a:prstGeom prst="ellipse">
            <a:avLst/>
          </a:prstGeom>
          <a:solidFill>
            <a:srgbClr val="FF7639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5029200" cy="5029200"/>
          </a:xfrm>
          <a:prstGeom prst="ellipse">
            <a:avLst/>
          </a:prstGeom>
          <a:solidFill>
            <a:srgbClr val="1F51FE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</a:t>
            </a:r>
            <a:pPr indent="0" marL="0">
              <a:buNone/>
            </a:pPr>
            <a:r>
              <a:rPr lang="en-US" sz="2200" b="1" spc="800" kern="0" dirty="0">
                <a:solidFill>
                  <a:srgbClr val="FF76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76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 · GERÊNCIA DE FROTA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Reduzir confusão no Checklist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9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+ Encerramento — 3 mudanças complementares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4434840"/>
            <a:ext cx="1371600" cy="36576"/>
          </a:xfrm>
          <a:prstGeom prst="rect">
            <a:avLst/>
          </a:prstGeom>
          <a:solidFill>
            <a:srgbClr val="FF763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4937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Apresentado por: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 Ferreira de Melo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· Engetecnica   ·   </a:t>
            </a:r>
            <a:pPr indent="0" marL="0">
              <a:buNone/>
            </a:pPr>
            <a:r>
              <a:rPr lang="en-US" sz="1200" dirty="0">
                <a:solidFill>
                  <a:srgbClr val="B9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samuel.melo@engetecnica.com.br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332720" y="62179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· jun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 executivo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linhas. 3 decisões. &lt; 8 h de desenvolvimento.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11880" cy="38404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822960" cy="822960"/>
          </a:xfrm>
          <a:prstGeom prst="ellipse">
            <a:avLst/>
          </a:prstGeom>
          <a:solidFill>
            <a:srgbClr val="FDECEA"/>
          </a:solidFill>
          <a:ln w="25400">
            <a:solidFill>
              <a:srgbClr val="E120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20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1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 se confundem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416052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equipe não percebe que são 2 momentos diferentes — chegada e saída. Sem o encerramento, a hora não é contabilizada e o veículo fica "aberto" no sistema.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1828800"/>
            <a:ext cx="3611880" cy="38404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2194560"/>
            <a:ext cx="822960" cy="822960"/>
          </a:xfrm>
          <a:prstGeom prst="ellipse">
            <a:avLst/>
          </a:prstGeom>
          <a:solidFill>
            <a:srgbClr val="FFF5E6"/>
          </a:solidFill>
          <a:ln w="25400">
            <a:solidFill>
              <a:srgbClr val="FF763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76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754880" y="32004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54880" y="36576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6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e app não comunicam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0" y="416052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atual diz "abertura OU encerramento" — interpretado como "escolha um". App tem só 1 botão genérico, sem lembrete visual do que falta encerrar.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1828800"/>
            <a:ext cx="3611880" cy="38404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95360" y="2194560"/>
            <a:ext cx="822960" cy="822960"/>
          </a:xfrm>
          <a:prstGeom prst="ellipse">
            <a:avLst/>
          </a:prstGeom>
          <a:solidFill>
            <a:srgbClr val="E6F6EC"/>
          </a:solidFill>
          <a:ln w="25400">
            <a:solidFill>
              <a:srgbClr val="22B07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B0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595360" y="32004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solução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595360" y="36576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B0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camadas de defesa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95360" y="4160520"/>
            <a:ext cx="2880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novo (4 h), redesign do app com 2 botões + cores semafóricas (3 dias), e cartão A5 plastificado no painel do veículo (R$ 5/un). Juntos eliminam o erro.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problema, na voz do operador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106424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23444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FF76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9200" dirty="0"/>
          </a:p>
        </p:txBody>
      </p:sp>
      <p:sp>
        <p:nvSpPr>
          <p:cNvPr id="5" name="Text 3"/>
          <p:cNvSpPr/>
          <p:nvPr/>
        </p:nvSpPr>
        <p:spPr>
          <a:xfrm>
            <a:off x="1645920" y="14630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Cheguei, fiz o checklist. Por que tenho que fazer de novo no final?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233172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Operador da frota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971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encerramento: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79476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FDECE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794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⏱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691640" y="370332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hora trabalhada não é contabilizada corretamente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352044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0" y="379476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FDECE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37947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🔧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7315200" y="370332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preventiva perde dados de uso (horímetro/km de saída)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25780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FDECEA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257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1691640" y="516636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que surgiram durante o dia ficam sem registro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72200" y="4983480"/>
            <a:ext cx="54406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525780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FDECEA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52578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315200" y="5166360"/>
            <a:ext cx="4160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 distorcidos: turnos "abertos" indefinidamente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está acontecendo?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causas identificadas — todas resolvíveis com design, sem culpar o operador.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0" b="1" dirty="0">
                <a:solidFill>
                  <a:srgbClr val="FF7639">
                    <a:alpha val="3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200" dirty="0"/>
          </a:p>
        </p:txBody>
      </p:sp>
      <p:sp>
        <p:nvSpPr>
          <p:cNvPr id="6" name="Text 4"/>
          <p:cNvSpPr/>
          <p:nvPr/>
        </p:nvSpPr>
        <p:spPr>
          <a:xfrm>
            <a:off x="914400" y="3246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Tutorial atual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14400" y="3840480"/>
            <a:ext cx="548640" cy="36576"/>
          </a:xfrm>
          <a:prstGeom prst="rect">
            <a:avLst/>
          </a:prstGeom>
          <a:solidFill>
            <a:srgbClr val="FF7639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023360"/>
            <a:ext cx="2926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frase diz: "Todo checklist tem MODO ABERTURA OU ENCERRAMENTO". Para um operador leigo, esse "ou" é lido como "escolha um dos dois" — exatamente o oposto da regra.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169164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09160" y="187452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0" b="1" dirty="0">
                <a:solidFill>
                  <a:srgbClr val="1F51FE">
                    <a:alpha val="3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200" dirty="0"/>
          </a:p>
        </p:txBody>
      </p:sp>
      <p:sp>
        <p:nvSpPr>
          <p:cNvPr id="11" name="Text 9"/>
          <p:cNvSpPr/>
          <p:nvPr/>
        </p:nvSpPr>
        <p:spPr>
          <a:xfrm>
            <a:off x="4800600" y="3246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genérico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3840480"/>
            <a:ext cx="548640" cy="36576"/>
          </a:xfrm>
          <a:prstGeom prst="rect">
            <a:avLst/>
          </a:prstGeom>
          <a:solidFill>
            <a:srgbClr val="1F51F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4023360"/>
            <a:ext cx="2926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um único botão "Veículos da Frota". Não há nada que lembre o operador de que abriu um turno e ainda não encerrou. A regra depende 100 % da memória.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21040" y="169164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595360" y="187452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0" b="1" dirty="0">
                <a:solidFill>
                  <a:srgbClr val="22B07D">
                    <a:alpha val="3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200" dirty="0"/>
          </a:p>
        </p:txBody>
      </p:sp>
      <p:sp>
        <p:nvSpPr>
          <p:cNvPr id="16" name="Text 14"/>
          <p:cNvSpPr/>
          <p:nvPr/>
        </p:nvSpPr>
        <p:spPr>
          <a:xfrm>
            <a:off x="8686800" y="3246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Equipe com baixa alfabetização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686800" y="3840480"/>
            <a:ext cx="548640" cy="36576"/>
          </a:xfrm>
          <a:prstGeom prst="rect">
            <a:avLst/>
          </a:prstGeom>
          <a:solidFill>
            <a:srgbClr val="22B07D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0" y="4023360"/>
            <a:ext cx="2926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longo é ignorado. A solução não é "explicar melhor" — é redundância visual: pictograma + cor + repetição em camadas (tutorial + app + cartão impresso).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91640" cy="365760"/>
          </a:xfrm>
          <a:prstGeom prst="roundRect">
            <a:avLst>
              <a:gd name="adj" fmla="val 12500"/>
            </a:avLst>
          </a:prstGeom>
          <a:solidFill>
            <a:srgbClr val="22B07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Refazer o tutorial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custo financeiro · sem mexer em produção · pode ser feito esta semana</a:t>
            </a:r>
            <a:endParaRPr lang="en-US" sz="1400" dirty="0"/>
          </a:p>
        </p:txBody>
      </p:sp>
      <p:pic>
        <p:nvPicPr>
          <p:cNvPr id="6" name="Image 0" descr="C:\wamp64\www\app_engeativos_v002\proposta-checklist\01-tutorial-nov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11680"/>
            <a:ext cx="4572000" cy="4434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0" y="205740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 no tutorial: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0" y="2606040"/>
            <a:ext cx="6126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23560" y="26060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🌅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217920" y="260604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Metáfora forte: sol = chegada, lua = saída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0" y="3291840"/>
            <a:ext cx="6126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623560" y="32918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🔢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217920" y="329184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visível: 1/2 HOJE → 2/2 ✓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0" y="3977640"/>
            <a:ext cx="6126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23560" y="39776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🗣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217920" y="397764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3× a frase "2 CHECKLISTS POR DIA"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0" y="4663440"/>
            <a:ext cx="6126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23560" y="46634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📐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217920" y="466344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passos divididos em 2 ciclos (chegou / vai embora)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486400" y="5349240"/>
            <a:ext cx="61264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23560" y="53492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⚠️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6217920" y="534924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final de alerta: "Esqueceu? Sua hora não conta"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0" y="6126480"/>
            <a:ext cx="6126480" cy="502920"/>
          </a:xfrm>
          <a:prstGeom prst="roundRect">
            <a:avLst>
              <a:gd name="adj" fmla="val 14545"/>
            </a:avLst>
          </a:prstGeom>
          <a:solidFill>
            <a:srgbClr val="E6F6EC"/>
          </a:solidFill>
          <a:ln w="19050">
            <a:solidFill>
              <a:srgbClr val="22B07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0" y="61264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Custo: </a:t>
            </a:r>
            <a:pPr indent="0" marL="0">
              <a:buNone/>
            </a:pPr>
            <a:r>
              <a:rPr lang="en-US" sz="1300" dirty="0">
                <a:solidFill>
                  <a:srgbClr val="0A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h de desenvolvimento  ·  </a:t>
            </a:r>
            <a:pPr indent="0" marL="0">
              <a:buNone/>
            </a:pPr>
            <a:r>
              <a:rPr lang="en-US" sz="1300" b="1" dirty="0">
                <a:solidFill>
                  <a:srgbClr val="0A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Risco: </a:t>
            </a:r>
            <a:pPr indent="0" marL="0">
              <a:buNone/>
            </a:pPr>
            <a:r>
              <a:rPr lang="en-US" sz="1300" dirty="0">
                <a:solidFill>
                  <a:srgbClr val="0A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91640" cy="365760"/>
          </a:xfrm>
          <a:prstGeom prst="roundRect">
            <a:avLst>
              <a:gd name="adj" fmla="val 12500"/>
            </a:avLst>
          </a:prstGeom>
          <a:solidFill>
            <a:srgbClr val="FF763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 do app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a possibilidade de erro — não depende mais da memória do operador.</a:t>
            </a:r>
            <a:endParaRPr lang="en-US" sz="1400" dirty="0"/>
          </a:p>
        </p:txBody>
      </p:sp>
      <p:pic>
        <p:nvPicPr>
          <p:cNvPr id="6" name="Image 0" descr="C:\wamp64\www\app_engeativos_v002\proposta-checklist\02-app-redesig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11680"/>
            <a:ext cx="7315200" cy="4480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2057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mudanças no app: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138160" y="2706624"/>
            <a:ext cx="411480" cy="411480"/>
          </a:xfrm>
          <a:prstGeom prst="ellipse">
            <a:avLst/>
          </a:prstGeom>
          <a:solidFill>
            <a:srgbClr val="FF7639"/>
          </a:solidFill>
          <a:ln/>
        </p:spPr>
      </p:sp>
      <p:sp>
        <p:nvSpPr>
          <p:cNvPr id="9" name="Text 6"/>
          <p:cNvSpPr/>
          <p:nvPr/>
        </p:nvSpPr>
        <p:spPr>
          <a:xfrm>
            <a:off x="8138160" y="27066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41080" y="26517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botões grandes na Home (Abrir / Encerrar)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38160" y="3364992"/>
            <a:ext cx="411480" cy="411480"/>
          </a:xfrm>
          <a:prstGeom prst="ellipse">
            <a:avLst/>
          </a:prstGeom>
          <a:solidFill>
            <a:srgbClr val="FF7639"/>
          </a:solidFill>
          <a:ln/>
        </p:spPr>
      </p:sp>
      <p:sp>
        <p:nvSpPr>
          <p:cNvPr id="12" name="Text 9"/>
          <p:cNvSpPr/>
          <p:nvPr/>
        </p:nvSpPr>
        <p:spPr>
          <a:xfrm>
            <a:off x="8138160" y="3364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641080" y="331012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persistente: "falta encerrar AC-001"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138160" y="4023360"/>
            <a:ext cx="411480" cy="411480"/>
          </a:xfrm>
          <a:prstGeom prst="ellipse">
            <a:avLst/>
          </a:prstGeom>
          <a:solidFill>
            <a:srgbClr val="FF7639"/>
          </a:solidFill>
          <a:ln/>
        </p:spPr>
      </p:sp>
      <p:sp>
        <p:nvSpPr>
          <p:cNvPr id="15" name="Text 12"/>
          <p:cNvSpPr/>
          <p:nvPr/>
        </p:nvSpPr>
        <p:spPr>
          <a:xfrm>
            <a:off x="8138160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641080" y="3968496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Cores semafóricas na lista (verde / laranja / vermelho)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138160" y="4681728"/>
            <a:ext cx="411480" cy="411480"/>
          </a:xfrm>
          <a:prstGeom prst="ellipse">
            <a:avLst/>
          </a:prstGeom>
          <a:solidFill>
            <a:srgbClr val="FF7639"/>
          </a:solidFill>
          <a:ln/>
        </p:spPr>
      </p:sp>
      <p:sp>
        <p:nvSpPr>
          <p:cNvPr id="18" name="Text 15"/>
          <p:cNvSpPr/>
          <p:nvPr/>
        </p:nvSpPr>
        <p:spPr>
          <a:xfrm>
            <a:off x="8138160" y="46817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641080" y="4626864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Notificação local de lembrete às 17 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38160" y="5340096"/>
            <a:ext cx="411480" cy="411480"/>
          </a:xfrm>
          <a:prstGeom prst="ellipse">
            <a:avLst/>
          </a:prstGeom>
          <a:solidFill>
            <a:srgbClr val="FF7639"/>
          </a:solidFill>
          <a:ln/>
        </p:spPr>
      </p:sp>
      <p:sp>
        <p:nvSpPr>
          <p:cNvPr id="21" name="Text 18"/>
          <p:cNvSpPr/>
          <p:nvPr/>
        </p:nvSpPr>
        <p:spPr>
          <a:xfrm>
            <a:off x="8138160" y="53400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8641080" y="528523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Renomear: "Checklist" → "Abrir/Encerrar turno"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8138160" y="6035040"/>
            <a:ext cx="3474720" cy="594360"/>
          </a:xfrm>
          <a:prstGeom prst="roundRect">
            <a:avLst>
              <a:gd name="adj" fmla="val 12308"/>
            </a:avLst>
          </a:prstGeom>
          <a:solidFill>
            <a:srgbClr val="FFF5E6"/>
          </a:solidFill>
          <a:ln w="19050">
            <a:solidFill>
              <a:srgbClr val="FF763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75320" y="6035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4F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Custo: </a:t>
            </a:r>
            <a:pPr indent="0" marL="0">
              <a:buNone/>
            </a:pPr>
            <a:r>
              <a:rPr lang="en-US" sz="1200" dirty="0">
                <a:solidFill>
                  <a:srgbClr val="E54F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dias de dev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54F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Risco: </a:t>
            </a:r>
            <a:pPr indent="0" marL="0">
              <a:buNone/>
            </a:pPr>
            <a:r>
              <a:rPr lang="en-US" sz="1200" dirty="0">
                <a:solidFill>
                  <a:srgbClr val="E54F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(testar em homologação)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91640" cy="365760"/>
          </a:xfrm>
          <a:prstGeom prst="roundRect">
            <a:avLst>
              <a:gd name="adj" fmla="val 12500"/>
            </a:avLst>
          </a:prstGeom>
          <a:solidFill>
            <a:srgbClr val="1F51F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Cartão impresso no veículo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 físico que não desliga — o motorista vê toda vez que entra.</a:t>
            </a:r>
            <a:endParaRPr lang="en-US" sz="1400" dirty="0"/>
          </a:p>
        </p:txBody>
      </p:sp>
      <p:pic>
        <p:nvPicPr>
          <p:cNvPr id="6" name="Image 0" descr="C:\wamp64\www\app_engeativos_v002\proposta-checklist\03-cartao-a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11680"/>
            <a:ext cx="7772400" cy="4434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595360" y="20574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funciona: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595360" y="2606040"/>
            <a:ext cx="3017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0" y="260604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51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144000" y="260604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Imprimir A5 horizontal (210×148mm), papel couché 250g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595360" y="3383280"/>
            <a:ext cx="3017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0" y="338328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51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144000" y="338328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Plastificar (acetato 125 mic ou laminação a quente)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95360" y="4160520"/>
            <a:ext cx="3017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0" y="416052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51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9144000" y="416052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Fixar com fita dupla face no painel do veículo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595360" y="4937760"/>
            <a:ext cx="301752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0" y="493776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51F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④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9144000" y="4937760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Distribuir para toda a frota em uma só ordem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595360" y="6035040"/>
            <a:ext cx="3017520" cy="594360"/>
          </a:xfrm>
          <a:prstGeom prst="roundRect">
            <a:avLst>
              <a:gd name="adj" fmla="val 12308"/>
            </a:avLst>
          </a:prstGeom>
          <a:solidFill>
            <a:srgbClr val="EAF1FE"/>
          </a:solidFill>
          <a:ln w="19050">
            <a:solidFill>
              <a:srgbClr val="1F51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732520" y="603504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1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Custo: </a:t>
            </a:r>
            <a:pPr indent="0" marL="0">
              <a:buNone/>
            </a:pPr>
            <a:r>
              <a:rPr lang="en-US" sz="1200" dirty="0">
                <a:solidFill>
                  <a:srgbClr val="1F51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~R$ 5 / veículo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51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Risco: </a:t>
            </a:r>
            <a:pPr indent="0" marL="0">
              <a:buNone/>
            </a:pPr>
            <a:r>
              <a:rPr lang="en-US" sz="1200" dirty="0">
                <a:solidFill>
                  <a:srgbClr val="1F51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91640" cy="365760"/>
          </a:xfrm>
          <a:prstGeom prst="roundRect">
            <a:avLst>
              <a:gd name="adj" fmla="val 12500"/>
            </a:avLst>
          </a:prstGeom>
          <a:solidFill>
            <a:srgbClr val="FF7639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 de treinamento (WhatsApp)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segundos · gravado pelo encarregado · no canal que a equipe já usa.</a:t>
            </a:r>
            <a:endParaRPr lang="en-US" sz="1400" dirty="0"/>
          </a:p>
        </p:txBody>
      </p:sp>
      <p:pic>
        <p:nvPicPr>
          <p:cNvPr id="6" name="Image 0" descr="C:\wamp64\www\app_engeativos_v002\proposta-checklist\04-storyboard-vide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11680"/>
            <a:ext cx="7315200" cy="4434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38160" y="2057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funciona pra esse público: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138160" y="2560320"/>
            <a:ext cx="34747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0" y="256032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🗣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732520" y="256032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exige leitura (voz + imagem)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138160" y="3063240"/>
            <a:ext cx="34747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0" y="306324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732520" y="306324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 humana = confiança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138160" y="3566160"/>
            <a:ext cx="34747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0" y="356616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732520" y="356616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é canal natural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38160" y="4069080"/>
            <a:ext cx="34747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2E5E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0" y="4069080"/>
            <a:ext cx="457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732520" y="406908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Repetível sob demanda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138160" y="4663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4F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Cuidados: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138160" y="498348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75-90 s ·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locutor profissional ·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real do app, não mockup ·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Legendas obrigatórias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138160" y="6035040"/>
            <a:ext cx="3474720" cy="594360"/>
          </a:xfrm>
          <a:prstGeom prst="roundRect">
            <a:avLst>
              <a:gd name="adj" fmla="val 12308"/>
            </a:avLst>
          </a:prstGeom>
          <a:solidFill>
            <a:srgbClr val="FFF5E6"/>
          </a:solidFill>
          <a:ln w="19050">
            <a:solidFill>
              <a:srgbClr val="FF763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75320" y="6035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4F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Custo: </a:t>
            </a:r>
            <a:pPr indent="0" marL="0">
              <a:buNone/>
            </a:pPr>
            <a:r>
              <a:rPr lang="en-US" sz="1200" dirty="0">
                <a:solidFill>
                  <a:srgbClr val="E54F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R$ 0 · ~3 h encarregado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54F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Risco: </a:t>
            </a:r>
            <a:pPr indent="0" marL="0">
              <a:buNone/>
            </a:pPr>
            <a:r>
              <a:rPr lang="en-US" sz="1200" dirty="0">
                <a:solidFill>
                  <a:srgbClr val="E54F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 sugerido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3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semanas do OK ao primeiro KPI medido.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4114800"/>
        </p:xfrm>
        <a:graphic>
          <a:graphicData uri="http://schemas.openxmlformats.org/drawingml/2006/table">
            <a:tbl>
              <a:tblPr/>
              <a:tblGrid>
                <a:gridCol w="1188720"/>
                <a:gridCol w="5486400"/>
                <a:gridCol w="274320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Responsável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5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76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Aprovação + refazer tutorial (C1) + gravar vídeo WhatsApp (C4)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Gerente · TI · Encarregado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 h dev + ~3 h grav.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76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Implementar mudanças no app (C2) + imprimir cartões A5 (C3)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 · Gráfica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 dias dev + R$ 5/un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76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Lançar nova versão do app + distribuir cartões + repostar vídeo no grupo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 · Encarregado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763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Medir queda em "turnos abertos sem encerrar" (1ª leitura do KPI)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5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85216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1F2A55"/>
          </a:solidFill>
          <a:ln/>
        </p:spPr>
      </p:sp>
      <p:sp>
        <p:nvSpPr>
          <p:cNvPr id="6" name="Text 3"/>
          <p:cNvSpPr/>
          <p:nvPr/>
        </p:nvSpPr>
        <p:spPr>
          <a:xfrm>
            <a:off x="548640" y="58521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76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 semanas  ·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8 h de dev  ·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h do encarregado  ·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 × frota (uma vez)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A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5486400" cy="5486400"/>
          </a:xfrm>
          <a:prstGeom prst="ellipse">
            <a:avLst/>
          </a:prstGeom>
          <a:solidFill>
            <a:srgbClr val="FF7639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0" y="4114800"/>
            <a:ext cx="5029200" cy="5029200"/>
          </a:xfrm>
          <a:prstGeom prst="ellipse">
            <a:avLst/>
          </a:prstGeom>
          <a:solidFill>
            <a:srgbClr val="22B07D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6576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Decisão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checkboxes — pode aprovar parcialmente, integralmente, ou pedir ajustes.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12000"/>
            </a:srgbClr>
          </a:solidFill>
          <a:ln w="25400">
            <a:solidFill>
              <a:srgbClr val="4ADE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56362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4ADE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8448" y="1472184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783080" y="1490472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Refazer tutorial (Camada 1)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783080" y="1801368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h dev · risco zero · faço esta semana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19456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12000"/>
            </a:srgbClr>
          </a:solidFill>
          <a:ln w="25400">
            <a:solidFill>
              <a:srgbClr val="FFA9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34086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FFA9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8448" y="2249424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A9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783080" y="2267712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Redesign do app (Camada 2)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783080" y="2578608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dias dev · testar em homologação primeiro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971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12000"/>
            </a:srgbClr>
          </a:solidFill>
          <a:ln w="25400">
            <a:solidFill>
              <a:srgbClr val="60A5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11810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60A5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98448" y="3026664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783080" y="3044952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Cartão A5 impresso (Camada 3)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783080" y="3355848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~R$ 5/veículo · uma ordem de impressão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749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>
              <a:alpha val="12000"/>
            </a:srgbClr>
          </a:solidFill>
          <a:ln w="25400">
            <a:solidFill>
              <a:srgbClr val="F472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389534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F472B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98448" y="3803904"/>
            <a:ext cx="411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7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783080" y="3822192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de treinamento WhatsApp (Camada 4)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783080" y="4133088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R$ 0 · ~3 h do encarregado · publicado em 1 dia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1F2A55"/>
          </a:solidFill>
          <a:ln w="25400">
            <a:solidFill>
              <a:srgbClr val="FF763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846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76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sugerido para medir: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7240" y="51663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 de turnos com encerramento no mesmo dia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77240" y="5669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(estimado): &lt; 60 %  →  Meta em 4 semanas: ≥ 90 %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686800" y="4754880"/>
            <a:ext cx="2743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FF76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7600" dirty="0"/>
          </a:p>
        </p:txBody>
      </p:sp>
      <p:sp>
        <p:nvSpPr>
          <p:cNvPr id="31" name="Text 29"/>
          <p:cNvSpPr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 Ferreira de Melo   ·  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samuel.melo@engetecnica.com.br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Engetecnica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— Reduzir confusão no Checklist</dc:title>
  <dc:subject>Aprovação Gerência de Frota</dc:subject>
  <dc:creator>Samuel Ferreira de Melo</dc:creator>
  <cp:lastModifiedBy>Samuel Ferreira de Melo</cp:lastModifiedBy>
  <cp:revision>1</cp:revision>
  <dcterms:created xsi:type="dcterms:W3CDTF">2026-06-24T13:20:45Z</dcterms:created>
  <dcterms:modified xsi:type="dcterms:W3CDTF">2026-06-24T13:20:45Z</dcterms:modified>
</cp:coreProperties>
</file>